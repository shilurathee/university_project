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93"/>
                </a:solidFill>
                <a:latin typeface="Calibri"/>
              </a:defRPr>
            </a:pPr>
            <a:r>
              <a:t>Manipal Institute of Technology Bengaluru  •  MAHE  •  School of Computer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CSS_2212 : Database Systems Lab —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UniTrack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0CCDB"/>
                </a:solidFill>
                <a:latin typeface="Calibri"/>
              </a:defRPr>
            </a:pPr>
            <a:r>
              <a:t>Student Registration &amp; Course Performance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23360"/>
            <a:ext cx="5486400" cy="12700"/>
          </a:xfrm>
          <a:prstGeom prst="rect">
            <a:avLst/>
          </a:prstGeom>
          <a:solidFill>
            <a:srgbClr val="1E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DB"/>
                </a:solidFill>
                <a:latin typeface="Calibri"/>
              </a:defRPr>
            </a:pPr>
            <a:r>
              <a:t>Romansh Rathee  (245891082)   —   Team Lead · Database Design ·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DB"/>
                </a:solidFill>
                <a:latin typeface="Calibri"/>
              </a:defRPr>
            </a:pPr>
            <a:r>
              <a:t>Aanya Gupta  (245891408)   —   Frontend · Testing ·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Proposed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Key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10.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Frontend &amp;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383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11.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Application Screens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12.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Advantages &amp; 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663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13.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B"/>
                </a:solidFill>
                <a:latin typeface="Calibr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0CCDB"/>
                </a:solidFill>
                <a:latin typeface="Calibri"/>
              </a:defRPr>
            </a:pPr>
            <a:r>
              <a:t>UniTrack is a full-stack web application that replaces manual spreadsheets with a unified, role-based university management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C0CCDB"/>
                </a:solidFill>
                <a:latin typeface="Calibri"/>
              </a:defRPr>
            </a:pPr>
            <a:r>
              <a:t>•  Centralized relational database (8 tables, 3NF)</a:t>
            </a:r>
          </a:p>
          <a:p>
            <a:pPr>
              <a:spcAft>
                <a:spcPts val="1200"/>
              </a:spcAft>
              <a:defRPr sz="1600">
                <a:solidFill>
                  <a:srgbClr val="C0CCDB"/>
                </a:solidFill>
                <a:latin typeface="Calibri"/>
              </a:defRPr>
            </a:pPr>
            <a:r>
              <a:t>•  Three user roles — Admin, Teacher, Student</a:t>
            </a:r>
          </a:p>
          <a:p>
            <a:pPr>
              <a:spcAft>
                <a:spcPts val="1200"/>
              </a:spcAft>
              <a:defRPr sz="1600">
                <a:solidFill>
                  <a:srgbClr val="C0CCDB"/>
                </a:solidFill>
                <a:latin typeface="Calibri"/>
              </a:defRPr>
            </a:pPr>
            <a:r>
              <a:t>•  Dynamic assessment creation &amp; grading</a:t>
            </a:r>
          </a:p>
          <a:p>
            <a:pPr>
              <a:spcAft>
                <a:spcPts val="1200"/>
              </a:spcAft>
              <a:defRPr sz="1600">
                <a:solidFill>
                  <a:srgbClr val="C0CCDB"/>
                </a:solidFill>
                <a:latin typeface="Calibri"/>
              </a:defRPr>
            </a:pPr>
            <a:r>
              <a:t>•  Automated weighted grade computation</a:t>
            </a:r>
          </a:p>
          <a:p>
            <a:pPr>
              <a:spcAft>
                <a:spcPts val="1200"/>
              </a:spcAft>
              <a:defRPr sz="1600">
                <a:solidFill>
                  <a:srgbClr val="C0CCDB"/>
                </a:solidFill>
                <a:latin typeface="Calibri"/>
              </a:defRPr>
            </a:pPr>
            <a:r>
              <a:t>•  Teacher-defined grade cutoff boundaries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Spreadsheets cause data inconsistency across departments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Manual grade calculations delay result publication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No unified platform for students, teachers, admins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Lack of role-based access control for sensitive data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Need: a relational database managing complex academic relationships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Design a normalized relational schema (8 tables)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Implement role-based access for Admin, Teacher, Student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Support dynamic, unlimited assessment creation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Automate weighted grade computation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Enable teacher-defined grade cutoff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3"/>
                </a:solidFill>
                <a:latin typeface="Calibri"/>
              </a:defRPr>
            </a:pPr>
            <a:r>
              <a:t>Key improvements over manual systems: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Centralized DB — single source of truth, no redundancy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Dynamic assessments — no rigid templates or limits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Automated grading — weighted totals + letter grades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Role isolation — strict data boundaries per user type</a:t>
            </a:r>
          </a:p>
          <a:p>
            <a:pPr>
              <a:spcAft>
                <a:spcPts val="16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Full CRUD — admins edit all records from one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3"/>
                </a:solidFill>
                <a:latin typeface="Calibri"/>
              </a:defRPr>
            </a:pPr>
            <a:r>
              <a:t>3-Tier Client-Server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383280" cy="347472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Presentation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HTML5, CSS3, Jinja2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Role-specific dashboards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Responsive form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2011680"/>
            <a:ext cx="3383280" cy="347472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39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Application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65176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Python 3.x + Flask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Server-side routing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Session-based authentication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8" y="2011680"/>
            <a:ext cx="3383280" cy="347472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8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Data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8" y="265176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MySQL 8.0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8 normalized tables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Foreign keys &amp; constraints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14800" y="3474720"/>
            <a:ext cx="320040" cy="228600"/>
          </a:xfrm>
          <a:prstGeom prst="rightArrow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7863840" y="3474720"/>
            <a:ext cx="320040" cy="228600"/>
          </a:xfrm>
          <a:prstGeom prst="rightArrow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332720" cy="6400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MySQL 8.0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002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DB"/>
                </a:solidFill>
                <a:latin typeface="Calibri"/>
              </a:defRPr>
            </a:pPr>
            <a:r>
              <a:t>Core relational data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10332720" cy="6400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Python 3.x + Flask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68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DB"/>
                </a:solidFill>
                <a:latin typeface="Calibri"/>
              </a:defRPr>
            </a:pPr>
            <a:r>
              <a:t>Server-side logic &amp;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0400"/>
            <a:ext cx="10332720" cy="6400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HTML5 / CSS3 / Jinja2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337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DB"/>
                </a:solidFill>
                <a:latin typeface="Calibri"/>
              </a:defRPr>
            </a:pPr>
            <a:r>
              <a:t>UI and templating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69080"/>
            <a:ext cx="10332720" cy="6400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Flask Sessions + Werkzeug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2062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DB"/>
                </a:solidFill>
                <a:latin typeface="Calibri"/>
              </a:defRPr>
            </a:pPr>
            <a:r>
              <a:t>Role-based login &amp; 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37760"/>
            <a:ext cx="10332720" cy="6400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VS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074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DB"/>
                </a:solidFill>
                <a:latin typeface="Calibri"/>
              </a:defRPr>
            </a:pPr>
            <a:r>
              <a:t>Development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93"/>
                </a:solidFill>
                <a:latin typeface="Calibri"/>
              </a:defRPr>
            </a:pPr>
            <a:r>
              <a:t>8 Normalized Relational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17373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14600"/>
            <a:ext cx="2103120" cy="12700"/>
          </a:xfrm>
          <a:prstGeom prst="rect">
            <a:avLst/>
          </a:prstGeom>
          <a:solidFill>
            <a:srgbClr val="1E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B"/>
                </a:solidFill>
                <a:latin typeface="Calibri"/>
              </a:defRPr>
            </a:pPr>
            <a:r>
              <a:t>Login credentials &amp;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60320" cy="17373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2514600"/>
            <a:ext cx="2103120" cy="12700"/>
          </a:xfrm>
          <a:prstGeom prst="rect">
            <a:avLst/>
          </a:prstGeom>
          <a:solidFill>
            <a:srgbClr val="1E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697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B"/>
                </a:solidFill>
                <a:latin typeface="Calibri"/>
              </a:defRPr>
            </a:pPr>
            <a:r>
              <a:t>Profile linked via user_id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2560320" cy="17373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teacher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514600"/>
            <a:ext cx="2103120" cy="12700"/>
          </a:xfrm>
          <a:prstGeom prst="rect">
            <a:avLst/>
          </a:prstGeom>
          <a:solidFill>
            <a:srgbClr val="1E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697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B"/>
                </a:solidFill>
                <a:latin typeface="Calibri"/>
              </a:defRPr>
            </a:pPr>
            <a:r>
              <a:t>Profile linked via user_id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828800"/>
            <a:ext cx="2560320" cy="17373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course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2514600"/>
            <a:ext cx="2103120" cy="12700"/>
          </a:xfrm>
          <a:prstGeom prst="rect">
            <a:avLst/>
          </a:prstGeom>
          <a:solidFill>
            <a:srgbClr val="1E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2697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B"/>
                </a:solidFill>
                <a:latin typeface="Calibri"/>
              </a:defRPr>
            </a:pPr>
            <a:r>
              <a:t>Details + teacher assignment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2560320" cy="17373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registration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617720"/>
            <a:ext cx="2103120" cy="12700"/>
          </a:xfrm>
          <a:prstGeom prst="rect">
            <a:avLst/>
          </a:prstGeom>
          <a:solidFill>
            <a:srgbClr val="1E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800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B"/>
                </a:solidFill>
                <a:latin typeface="Calibri"/>
              </a:defRPr>
            </a:pPr>
            <a:r>
              <a:t>Student-course enrollment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931920"/>
            <a:ext cx="2560320" cy="17373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0332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617720"/>
            <a:ext cx="2103120" cy="12700"/>
          </a:xfrm>
          <a:prstGeom prst="rect">
            <a:avLst/>
          </a:prstGeom>
          <a:solidFill>
            <a:srgbClr val="1E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03320" y="4800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B"/>
                </a:solidFill>
                <a:latin typeface="Calibri"/>
              </a:defRPr>
            </a:pPr>
            <a:r>
              <a:t>Dynamic per-course entries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31920"/>
            <a:ext cx="2560320" cy="17373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4617720"/>
            <a:ext cx="2103120" cy="12700"/>
          </a:xfrm>
          <a:prstGeom prst="rect">
            <a:avLst/>
          </a:prstGeom>
          <a:solidFill>
            <a:srgbClr val="1E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4800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B"/>
                </a:solidFill>
                <a:latin typeface="Calibri"/>
              </a:defRPr>
            </a:pPr>
            <a:r>
              <a:t>Per student per assessment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931920"/>
            <a:ext cx="2560320" cy="17373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60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gradecutoff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4617720"/>
            <a:ext cx="2103120" cy="12700"/>
          </a:xfrm>
          <a:prstGeom prst="rect">
            <a:avLst/>
          </a:prstGeom>
          <a:solidFill>
            <a:srgbClr val="1E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72600" y="4800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B"/>
                </a:solidFill>
                <a:latin typeface="Calibri"/>
              </a:defRPr>
            </a:pPr>
            <a:r>
              <a:t>Grade boundaries per 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383280" cy="38404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Admin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Manage students, teachers, courses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Enroll students in courses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Define grade cutoffs (A–F)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Dashboard with live stats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463040"/>
            <a:ext cx="3383280" cy="38404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39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Teacher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10312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View assigned courses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Create dynamic assessments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Enter marks per student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View weighted results &amp; grades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8" y="1463040"/>
            <a:ext cx="3383280" cy="38404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8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Student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8" y="210312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View enrolled courses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Check per-assessment marks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See final weighted grade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Read-only scoped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920240" cy="22860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B"/>
                </a:solidFill>
                <a:latin typeface="Calibri"/>
              </a:defRPr>
            </a:pPr>
            <a:r>
              <a:t>Role-based auth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04872" y="3017520"/>
            <a:ext cx="274320" cy="182880"/>
          </a:xfrm>
          <a:prstGeom prst="rightArrow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97480" y="2011680"/>
            <a:ext cx="1920240" cy="22860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246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B"/>
                </a:solidFill>
                <a:latin typeface="Calibri"/>
              </a:defRPr>
            </a:pPr>
            <a:r>
              <a:t>Redirect to portal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45152" y="3017520"/>
            <a:ext cx="274320" cy="182880"/>
          </a:xfrm>
          <a:prstGeom prst="rightArrow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37760" y="2011680"/>
            <a:ext cx="1920240" cy="22860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46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B"/>
                </a:solidFill>
                <a:latin typeface="Calibri"/>
              </a:defRPr>
            </a:pPr>
            <a:r>
              <a:t>Flask processes request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85432" y="3017520"/>
            <a:ext cx="274320" cy="182880"/>
          </a:xfrm>
          <a:prstGeom prst="rightArrow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78040" y="2011680"/>
            <a:ext cx="1920240" cy="22860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246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B"/>
                </a:solidFill>
                <a:latin typeface="Calibri"/>
              </a:defRPr>
            </a:pPr>
            <a:r>
              <a:t>Parameterized SQL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125712" y="3017520"/>
            <a:ext cx="274320" cy="182880"/>
          </a:xfrm>
          <a:prstGeom prst="rightArrow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18320" y="2011680"/>
            <a:ext cx="1920240" cy="22860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246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B"/>
                </a:solidFill>
                <a:latin typeface="Calibri"/>
              </a:defRPr>
            </a:pPr>
            <a:r>
              <a:t>Jinja2 returns 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93"/>
                </a:solidFill>
                <a:latin typeface="Calibri"/>
              </a:defRPr>
            </a:pPr>
            <a:r>
              <a:t>All queries use parameterized SQL. Sessions enforce role isolation.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Frontend &amp; 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20640" cy="41148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Frontend  (Jinja2 + CSS3)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Role-selector login page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Admin dashboard with live stats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Separate pages per entity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Clean student result view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Edit support across all sections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120640" cy="41148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Backend  (Flask + MySQL)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Flask routing + session management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Werkzeug password hashing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ON DUPLICATE KEY UPDATE for marks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Weighted total: Σ(obtained/max × weight)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Auto grade via cutoff table lookup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Application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3511296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33401"/>
            <a:ext cx="2834640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rPr dirty="0"/>
              <a:t>•  Login Page · Role selector + auth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rPr dirty="0"/>
              <a:t>•  Dashboard · Live stats &amp; navigation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rPr dirty="0"/>
              <a:t>•  Manage Students · Add/view/edit/delete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rPr dirty="0"/>
              <a:t>•  Manage Teachers · Add/view/edit/delete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rPr dirty="0"/>
              <a:t>•  Manage Courses · Create, assign, edit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rPr dirty="0"/>
              <a:t>•  Manage Registrations · Enroll/remove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rPr dirty="0"/>
              <a:t>•  Grade Cutoffs · A/B/C/D/F per course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371600"/>
            <a:ext cx="3383280" cy="2359152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39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Teacher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011680"/>
            <a:ext cx="283464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Dashboard · Courses &amp; assessments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Assessments · Add/delete per course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Enter Marks · Per student per assessment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View Results · Weighted totals &amp; grades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8" y="1371600"/>
            <a:ext cx="3383280" cy="1591056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8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8" y="2011680"/>
            <a:ext cx="2834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Dashboard · Courses &amp; grades overview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My Results · Marks, total, final grade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Advantages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20640" cy="41148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Eliminates redundancy via centralized DB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Automated grading reduces errors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Role-based access ensures data privacy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Flexible, dynamic assessment system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Intuitive interface for all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120640" cy="411480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E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Real-time notifications between roles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Multi-campus deployment support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Analytics dashboard with trends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LMS API integration</a:t>
            </a:r>
          </a:p>
          <a:p>
            <a:pPr>
              <a:spcAft>
                <a:spcPts val="800"/>
              </a:spcAft>
              <a:defRPr sz="1300">
                <a:solidFill>
                  <a:srgbClr val="C0CCDB"/>
                </a:solidFill>
                <a:latin typeface="Calibri"/>
              </a:defRPr>
            </a:pPr>
            <a:r>
              <a:t>•  Mobile-responsive / native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B93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Fully functional role-based web app for DBMS requirements</a:t>
            </a:r>
          </a:p>
          <a:p>
            <a:pPr>
              <a:spcAft>
                <a:spcPts val="18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Dynamic assessment system with no predefined limits</a:t>
            </a:r>
          </a:p>
          <a:p>
            <a:pPr>
              <a:spcAft>
                <a:spcPts val="18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Automated weighted grading with custom cutoffs</a:t>
            </a:r>
          </a:p>
          <a:p>
            <a:pPr>
              <a:spcAft>
                <a:spcPts val="1800"/>
              </a:spcAft>
              <a:defRPr sz="1700">
                <a:solidFill>
                  <a:srgbClr val="C0CCDB"/>
                </a:solidFill>
                <a:latin typeface="Calibri"/>
              </a:defRPr>
            </a:pPr>
            <a:r>
              <a:t>•  Clean role separation ensuring data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Calibri"/>
              </a:defRPr>
            </a:pPr>
            <a:r>
              <a:t>Romansh Rathee  ·  Aanya Gupta   |   CSS_2212 : Database Systems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863</Words>
  <Application>Microsoft Office PowerPoint</Application>
  <PresentationFormat>Widescreen</PresentationFormat>
  <Paragraphs>199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Shilu Rathee</cp:lastModifiedBy>
  <cp:revision>2</cp:revision>
  <dcterms:created xsi:type="dcterms:W3CDTF">2013-01-27T09:14:16Z</dcterms:created>
  <dcterms:modified xsi:type="dcterms:W3CDTF">2026-04-14T21:09:40Z</dcterms:modified>
  <cp:category/>
</cp:coreProperties>
</file>